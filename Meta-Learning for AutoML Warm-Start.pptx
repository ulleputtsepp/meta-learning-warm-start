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8d61773f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a8d61773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8f2e48eb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8f2e48eb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8f2e48eb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8f2e48eb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8f2e48eb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8f2e48eb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8f2e48eb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8f2e48eb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8f2e48eb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8f2e48eb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8f2e48ebf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8f2e48eb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8f6347359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8f6347359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8f2e48eb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8f2e48eb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8f2e48ebf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8f2e48ebf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t" sz="1200">
                <a:solidFill>
                  <a:schemeClr val="dk1"/>
                </a:solidFill>
              </a:rPr>
              <a:t>num_pred_fractal_dim_max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t" sz="1000">
                <a:solidFill>
                  <a:schemeClr val="dk1"/>
                </a:solidFill>
              </a:rPr>
              <a:t>Maximum fractal dimension observed across numerical predictor series.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t" sz="1200">
                <a:solidFill>
                  <a:schemeClr val="dk1"/>
                </a:solidFill>
              </a:rPr>
              <a:t>num_instances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t" sz="1000">
                <a:solidFill>
                  <a:schemeClr val="dk1"/>
                </a:solidFill>
              </a:rPr>
              <a:t>Total number of instances/rows in the dataset.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t" sz="1200">
                <a:solidFill>
                  <a:schemeClr val="dk1"/>
                </a:solidFill>
              </a:rPr>
              <a:t>target_avg_std_10_percentiles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t" sz="1000">
                <a:solidFill>
                  <a:schemeClr val="dk1"/>
                </a:solidFill>
              </a:rPr>
              <a:t>Average standard deviation across 10 percentile slices of the target distribution — captures variability consistency.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t" sz="1200">
                <a:solidFill>
                  <a:schemeClr val="dk1"/>
                </a:solidFill>
              </a:rPr>
              <a:t>num_pred_corr_mean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t" sz="1000">
                <a:solidFill>
                  <a:schemeClr val="dk1"/>
                </a:solidFill>
              </a:rPr>
              <a:t>Average pairwise correlation between numerical predictors.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t" sz="1200">
                <a:solidFill>
                  <a:schemeClr val="dk1"/>
                </a:solidFill>
              </a:rPr>
              <a:t>skewness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t" sz="1000">
                <a:solidFill>
                  <a:schemeClr val="dk1"/>
                </a:solidFill>
              </a:rPr>
              <a:t>Skewness of the target series — measures asymmetry in its distribution.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t" sz="1200">
                <a:solidFill>
                  <a:schemeClr val="dk1"/>
                </a:solidFill>
              </a:rPr>
              <a:t>num_pred_corr_std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t" sz="1000">
                <a:solidFill>
                  <a:schemeClr val="dk1"/>
                </a:solidFill>
              </a:rPr>
              <a:t>Standard deviation of correlation values among numerical predictors.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8fc3993e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8fc3993e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rive.google.com/file/d/1YtbsEahgmCMVT3PAOCvwb2GlYfGKHQLi/view?usp=sharing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9144000" cy="27303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rgbClr val="CFE2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0" y="66900"/>
            <a:ext cx="8520600" cy="273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t">
                <a:solidFill>
                  <a:schemeClr val="lt1"/>
                </a:solidFill>
              </a:rPr>
              <a:t>Meta-Learning for AutoML Warm-Start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t"/>
              <a:t>Maria Širai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t"/>
              <a:t>Ülle Püttsepp</a:t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2450025" y="3918475"/>
            <a:ext cx="4413300" cy="5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t" sz="1800">
                <a:solidFill>
                  <a:schemeClr val="dk2"/>
                </a:solidFill>
              </a:rPr>
              <a:t>Project 1, AutoML course, 24.11.2025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8608" y="3989170"/>
            <a:ext cx="979075" cy="9881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311700" y="4601676"/>
            <a:ext cx="15258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t" sz="1800">
                <a:solidFill>
                  <a:srgbClr val="1C4587"/>
                </a:solidFill>
              </a:rPr>
              <a:t>#UniTartuCS</a:t>
            </a:r>
            <a:endParaRPr sz="1800"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t"/>
              <a:t>Problem statement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t">
                <a:solidFill>
                  <a:schemeClr val="dk1"/>
                </a:solidFill>
              </a:rPr>
              <a:t>Build a </a:t>
            </a:r>
            <a:r>
              <a:rPr b="1" lang="et">
                <a:solidFill>
                  <a:srgbClr val="0B5394"/>
                </a:solidFill>
              </a:rPr>
              <a:t>meta-learning model</a:t>
            </a:r>
            <a:r>
              <a:rPr lang="et">
                <a:solidFill>
                  <a:schemeClr val="dk1"/>
                </a:solidFill>
              </a:rPr>
              <a:t> to predict the best-performing time-series forecasting algorithm from a </a:t>
            </a:r>
            <a:r>
              <a:rPr b="1" lang="et">
                <a:solidFill>
                  <a:srgbClr val="0B5394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knowledge base</a:t>
            </a:r>
            <a:r>
              <a:rPr lang="et">
                <a:solidFill>
                  <a:schemeClr val="dk1"/>
                </a:solidFill>
              </a:rPr>
              <a:t> containing datasets standard description paragraphs of the dataset </a:t>
            </a:r>
            <a:r>
              <a:rPr b="1" lang="et">
                <a:solidFill>
                  <a:srgbClr val="0B5394"/>
                </a:solidFill>
              </a:rPr>
              <a:t>meta-features</a:t>
            </a:r>
            <a:r>
              <a:rPr lang="et">
                <a:solidFill>
                  <a:schemeClr val="dk1"/>
                </a:solidFill>
              </a:rPr>
              <a:t> in addition to the best forecasting </a:t>
            </a:r>
            <a:r>
              <a:rPr b="1" lang="et">
                <a:solidFill>
                  <a:srgbClr val="0B5394"/>
                </a:solidFill>
              </a:rPr>
              <a:t>algorithm label</a:t>
            </a:r>
            <a:r>
              <a:rPr lang="et">
                <a:solidFill>
                  <a:schemeClr val="dk1"/>
                </a:solidFill>
              </a:rPr>
              <a:t> and its hyper-parameter set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552" y="3537300"/>
            <a:ext cx="8552526" cy="4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t"/>
              <a:t>Knowledgebase dataset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t">
                <a:solidFill>
                  <a:srgbClr val="0B5394"/>
                </a:solidFill>
              </a:rPr>
              <a:t>Target: </a:t>
            </a:r>
            <a:r>
              <a:rPr lang="et">
                <a:solidFill>
                  <a:srgbClr val="0B5394"/>
                </a:solidFill>
              </a:rPr>
              <a:t>algorithm</a:t>
            </a:r>
            <a:endParaRPr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563" y="2076250"/>
            <a:ext cx="8690873" cy="175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t"/>
              <a:t>series_description example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605"/>
              <a:buNone/>
            </a:pPr>
            <a:r>
              <a:rPr lang="et" sz="989">
                <a:solidFill>
                  <a:schemeClr val="dk1"/>
                </a:solidFill>
              </a:rPr>
              <a:t>A multivariate regression time-series dataset consists of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7464</a:t>
            </a:r>
            <a:r>
              <a:rPr lang="et" sz="989">
                <a:solidFill>
                  <a:schemeClr val="dk1"/>
                </a:solidFill>
              </a:rPr>
              <a:t> instances and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17</a:t>
            </a:r>
            <a:r>
              <a:rPr lang="et" sz="989">
                <a:solidFill>
                  <a:schemeClr val="dk1"/>
                </a:solidFill>
              </a:rPr>
              <a:t> features. The percentage of numerical features to categorical features in the dataset is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2.2</a:t>
            </a:r>
            <a:r>
              <a:rPr lang="et" sz="989">
                <a:solidFill>
                  <a:schemeClr val="dk1"/>
                </a:solidFill>
              </a:rPr>
              <a:t>  The dataset has a sampling rate of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60.0</a:t>
            </a:r>
            <a:r>
              <a:rPr lang="et" sz="989">
                <a:solidFill>
                  <a:schemeClr val="dk1"/>
                </a:solidFill>
              </a:rPr>
              <a:t> minutes. The percentage of missing values in the target column is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0.19%</a:t>
            </a:r>
            <a:r>
              <a:rPr lang="et" sz="989">
                <a:solidFill>
                  <a:schemeClr val="dk1"/>
                </a:solidFill>
              </a:rPr>
              <a:t>. he missing values percentages for numerical features range from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1400%</a:t>
            </a:r>
            <a:r>
              <a:rPr lang="et" sz="989">
                <a:solidFill>
                  <a:schemeClr val="dk1"/>
                </a:solidFill>
              </a:rPr>
              <a:t> to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211200%</a:t>
            </a:r>
            <a:r>
              <a:rPr lang="et" sz="989">
                <a:solidFill>
                  <a:schemeClr val="dk1"/>
                </a:solidFill>
              </a:rPr>
              <a:t> with mean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20472.73%</a:t>
            </a:r>
            <a:r>
              <a:rPr lang="et" sz="989">
                <a:solidFill>
                  <a:schemeClr val="dk1"/>
                </a:solidFill>
              </a:rPr>
              <a:t>, and standard deviation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63257.08%</a:t>
            </a:r>
            <a:r>
              <a:rPr lang="et" sz="989">
                <a:solidFill>
                  <a:schemeClr val="dk1"/>
                </a:solidFill>
              </a:rPr>
              <a:t>.Similarly, the missing values percentages for categorical features range from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1400%</a:t>
            </a:r>
            <a:r>
              <a:rPr lang="et" sz="989">
                <a:solidFill>
                  <a:schemeClr val="dk1"/>
                </a:solidFill>
              </a:rPr>
              <a:t> to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1400%</a:t>
            </a:r>
            <a:r>
              <a:rPr lang="et" sz="989">
                <a:solidFill>
                  <a:schemeClr val="dk1"/>
                </a:solidFill>
              </a:rPr>
              <a:t> with mean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1400.0%</a:t>
            </a:r>
            <a:r>
              <a:rPr lang="et" sz="989">
                <a:solidFill>
                  <a:schemeClr val="dk1"/>
                </a:solidFill>
              </a:rPr>
              <a:t>, and standard deviation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0.0%</a:t>
            </a:r>
            <a:r>
              <a:rPr lang="et" sz="989">
                <a:solidFill>
                  <a:schemeClr val="dk1"/>
                </a:solidFill>
              </a:rPr>
              <a:t>. The target series has a minimum value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19.9</a:t>
            </a:r>
            <a:r>
              <a:rPr lang="et" sz="989">
                <a:solidFill>
                  <a:schemeClr val="dk1"/>
                </a:solidFill>
              </a:rPr>
              <a:t>, maximum value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35.1</a:t>
            </a:r>
            <a:r>
              <a:rPr lang="et" sz="989">
                <a:solidFill>
                  <a:schemeClr val="dk1"/>
                </a:solidFill>
              </a:rPr>
              <a:t>, median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25.2</a:t>
            </a:r>
            <a:r>
              <a:rPr lang="et" sz="989">
                <a:solidFill>
                  <a:schemeClr val="dk1"/>
                </a:solidFill>
              </a:rPr>
              <a:t>, mean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26.153865275372308</a:t>
            </a:r>
            <a:r>
              <a:rPr lang="et" sz="989">
                <a:solidFill>
                  <a:schemeClr val="dk1"/>
                </a:solidFill>
              </a:rPr>
              <a:t>, and average standard deviation of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0.2014286746341122</a:t>
            </a:r>
            <a:r>
              <a:rPr lang="et" sz="989">
                <a:solidFill>
                  <a:schemeClr val="dk1"/>
                </a:solidFill>
              </a:rPr>
              <a:t> for the 10 percentiles. The series is detected as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stationary</a:t>
            </a:r>
            <a:r>
              <a:rPr lang="et" sz="989">
                <a:solidFill>
                  <a:schemeClr val="dk1"/>
                </a:solidFill>
              </a:rPr>
              <a:t> using dickey fuller test . The series has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10</a:t>
            </a:r>
            <a:r>
              <a:rPr lang="et" sz="989">
                <a:solidFill>
                  <a:schemeClr val="dk1"/>
                </a:solidFill>
              </a:rPr>
              <a:t> significant lags observed using the partial autocorrelation function (pACF), the pACF values for these 10 lags ranges from 0.9366106168100137 for the lag number 1 to -0.06504818948904233 for the lag number 10.There are no insignificant lags in between the first and the last significant ones. The series looks to be a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multiplicative</a:t>
            </a:r>
            <a:r>
              <a:rPr lang="et" sz="989">
                <a:solidFill>
                  <a:schemeClr val="dk1"/>
                </a:solidFill>
              </a:rPr>
              <a:t> time-series with a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linear</a:t>
            </a:r>
            <a:r>
              <a:rPr lang="et" sz="989">
                <a:solidFill>
                  <a:schemeClr val="dk1"/>
                </a:solidFill>
              </a:rPr>
              <a:t> trend.  There are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no</a:t>
            </a:r>
            <a:r>
              <a:rPr lang="et" sz="989">
                <a:solidFill>
                  <a:schemeClr val="dk1"/>
                </a:solidFill>
                <a:highlight>
                  <a:schemeClr val="lt1"/>
                </a:highlight>
              </a:rPr>
              <a:t> seasonality</a:t>
            </a:r>
            <a:r>
              <a:rPr lang="et" sz="989">
                <a:solidFill>
                  <a:schemeClr val="dk1"/>
                </a:solidFill>
              </a:rPr>
              <a:t> components detected in the series The series exhibits a skewness value of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0.48865133828757656</a:t>
            </a:r>
            <a:r>
              <a:rPr lang="et" sz="989">
                <a:solidFill>
                  <a:schemeClr val="dk1"/>
                </a:solidFill>
              </a:rPr>
              <a:t> and a kurtosis value of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0.9848846069793469</a:t>
            </a:r>
            <a:r>
              <a:rPr lang="et" sz="989">
                <a:solidFill>
                  <a:schemeClr val="dk1"/>
                </a:solidFill>
              </a:rPr>
              <a:t>. The Fractal dimension analysis yields a value of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-0.14743510177012986</a:t>
            </a:r>
            <a:r>
              <a:rPr lang="et" sz="989">
                <a:solidFill>
                  <a:schemeClr val="dk1"/>
                </a:solidFill>
              </a:rPr>
              <a:t>, indicating a Complex and irregular time-series structure.  Among the numerical predictors, the series has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100.0%</a:t>
            </a:r>
            <a:r>
              <a:rPr lang="et" sz="989">
                <a:solidFill>
                  <a:schemeClr val="dk1"/>
                </a:solidFill>
              </a:rPr>
              <a:t> of the numerical features detected as stationary. There are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no</a:t>
            </a:r>
            <a:r>
              <a:rPr lang="et" sz="989">
                <a:solidFill>
                  <a:schemeClr val="dk1"/>
                </a:solidFill>
              </a:rPr>
              <a:t> seasonality components detected in the numerical predictors. the numerical predictors also exhibit skewness values ranging from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0.07033260488392569</a:t>
            </a:r>
            <a:r>
              <a:rPr lang="et" sz="989">
                <a:solidFill>
                  <a:schemeClr val="dk1"/>
                </a:solidFill>
              </a:rPr>
              <a:t> to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10.11096125923628</a:t>
            </a:r>
            <a:r>
              <a:rPr lang="et" sz="989">
                <a:solidFill>
                  <a:schemeClr val="dk1"/>
                </a:solidFill>
              </a:rPr>
              <a:t>, and kurtosis values of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0.1776720055358174</a:t>
            </a:r>
            <a:r>
              <a:rPr lang="et" sz="989">
                <a:solidFill>
                  <a:schemeClr val="dk1"/>
                </a:solidFill>
              </a:rPr>
              <a:t> to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126.12768307338887</a:t>
            </a:r>
            <a:r>
              <a:rPr lang="et" sz="989">
                <a:solidFill>
                  <a:schemeClr val="dk1"/>
                </a:solidFill>
              </a:rPr>
              <a:t>. The fractal dimension analysis yields values ranging from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-0.838525482571391</a:t>
            </a:r>
            <a:r>
              <a:rPr lang="et" sz="989">
                <a:solidFill>
                  <a:schemeClr val="dk1"/>
                </a:solidFill>
              </a:rPr>
              <a:t>9 to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-0.08897767522391264</a:t>
            </a:r>
            <a:r>
              <a:rPr lang="et" sz="989">
                <a:solidFill>
                  <a:schemeClr val="dk1"/>
                </a:solidFill>
              </a:rPr>
              <a:t> indicating a Complex and irregular time-series structure for the numerical predictors. The correlation values among the numerical predictors have a minimum of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-0.33919535905860904</a:t>
            </a:r>
            <a:r>
              <a:rPr lang="et" sz="989">
                <a:solidFill>
                  <a:schemeClr val="dk1"/>
                </a:solidFill>
              </a:rPr>
              <a:t>, maximum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1.0</a:t>
            </a:r>
            <a:r>
              <a:rPr lang="et" sz="989">
                <a:solidFill>
                  <a:schemeClr val="dk1"/>
                </a:solidFill>
              </a:rPr>
              <a:t>, mean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0.19137572897846422</a:t>
            </a:r>
            <a:r>
              <a:rPr lang="et" sz="989">
                <a:solidFill>
                  <a:schemeClr val="dk1"/>
                </a:solidFill>
              </a:rPr>
              <a:t>, and standard deviation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0.428530520138784</a:t>
            </a:r>
            <a:r>
              <a:rPr lang="et" sz="989">
                <a:solidFill>
                  <a:schemeClr val="dk1"/>
                </a:solidFill>
              </a:rPr>
              <a:t>. Among the categorical predictors, the count of symbols ranges from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57</a:t>
            </a:r>
            <a:r>
              <a:rPr lang="et" sz="989">
                <a:solidFill>
                  <a:schemeClr val="dk1"/>
                </a:solidFill>
              </a:rPr>
              <a:t> to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73</a:t>
            </a:r>
            <a:r>
              <a:rPr lang="et" sz="989">
                <a:solidFill>
                  <a:schemeClr val="dk1"/>
                </a:solidFill>
              </a:rPr>
              <a:t> with a minimum entropy value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4.880777622397733</a:t>
            </a:r>
            <a:r>
              <a:rPr lang="et" sz="989">
                <a:solidFill>
                  <a:schemeClr val="dk1"/>
                </a:solidFill>
              </a:rPr>
              <a:t>, maximum entropy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5.320829081033635</a:t>
            </a:r>
            <a:r>
              <a:rPr lang="et" sz="989">
                <a:solidFill>
                  <a:schemeClr val="dk1"/>
                </a:solidFill>
              </a:rPr>
              <a:t>, mean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5.129391802964169</a:t>
            </a:r>
            <a:r>
              <a:rPr lang="et" sz="989">
                <a:solidFill>
                  <a:schemeClr val="dk1"/>
                </a:solidFill>
              </a:rPr>
              <a:t>, and standard deviation </a:t>
            </a:r>
            <a:r>
              <a:rPr lang="et" sz="989">
                <a:solidFill>
                  <a:schemeClr val="dk1"/>
                </a:solidFill>
                <a:highlight>
                  <a:srgbClr val="CFE2F3"/>
                </a:highlight>
              </a:rPr>
              <a:t>0.17116964780347563</a:t>
            </a:r>
            <a:r>
              <a:rPr lang="et" sz="989">
                <a:solidFill>
                  <a:schemeClr val="dk1"/>
                </a:solidFill>
              </a:rPr>
              <a:t>. The dataset is converted into a simple regression task by extracting the previously described features.</a:t>
            </a:r>
            <a:endParaRPr sz="989">
              <a:solidFill>
                <a:schemeClr val="dk1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5118000" y="4513906"/>
            <a:ext cx="37143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t" sz="1800">
                <a:solidFill>
                  <a:srgbClr val="0B5394"/>
                </a:solidFill>
              </a:rPr>
              <a:t>44 meta-features extracted</a:t>
            </a:r>
            <a:endParaRPr sz="180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t"/>
              <a:t>hyperparameters example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t">
                <a:solidFill>
                  <a:schemeClr val="dk1"/>
                </a:solidFill>
              </a:rPr>
              <a:t>{'learning_rate': 0.1, 'max_depth': 6, 'n_estimators': 50, 'random_state': 42, 'subsample': 0.8}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i="1" lang="et">
                <a:solidFill>
                  <a:srgbClr val="0B5394"/>
                </a:solidFill>
              </a:rPr>
              <a:t>hyperparameters</a:t>
            </a:r>
            <a:r>
              <a:rPr lang="et">
                <a:solidFill>
                  <a:schemeClr val="dk1"/>
                </a:solidFill>
              </a:rPr>
              <a:t> column was dropped from the dataset because it was not needed for the classification task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i="1" lang="et">
                <a:solidFill>
                  <a:srgbClr val="0B5394"/>
                </a:solidFill>
              </a:rPr>
              <a:t>No scores</a:t>
            </a:r>
            <a:r>
              <a:rPr lang="et">
                <a:solidFill>
                  <a:schemeClr val="dk1"/>
                </a:solidFill>
              </a:rPr>
              <a:t> for the algorithm </a:t>
            </a:r>
            <a:r>
              <a:rPr i="1" lang="et">
                <a:solidFill>
                  <a:srgbClr val="0B5394"/>
                </a:solidFill>
              </a:rPr>
              <a:t>performance</a:t>
            </a:r>
            <a:r>
              <a:rPr lang="et">
                <a:solidFill>
                  <a:schemeClr val="dk1"/>
                </a:solidFill>
              </a:rPr>
              <a:t> were provided, so model predicting best hyperparameter combination could not be developed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t"/>
              <a:t>Data </a:t>
            </a:r>
            <a:r>
              <a:rPr b="1" lang="et">
                <a:solidFill>
                  <a:srgbClr val="0B5394"/>
                </a:solidFill>
              </a:rPr>
              <a:t>pre-processing</a:t>
            </a:r>
            <a:r>
              <a:rPr lang="et"/>
              <a:t> steps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t">
                <a:solidFill>
                  <a:schemeClr val="dk1"/>
                </a:solidFill>
              </a:rPr>
              <a:t>.csv (810 datasets as instances)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t">
                <a:solidFill>
                  <a:schemeClr val="dk1"/>
                </a:solidFill>
              </a:rPr>
              <a:t>Converting series_description to tabular data (44 new features)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t">
                <a:solidFill>
                  <a:schemeClr val="dk1"/>
                </a:solidFill>
              </a:rPr>
              <a:t>Dropping </a:t>
            </a:r>
            <a:r>
              <a:rPr lang="et">
                <a:solidFill>
                  <a:schemeClr val="dk1"/>
                </a:solidFill>
              </a:rPr>
              <a:t>unnecessary</a:t>
            </a:r>
            <a:r>
              <a:rPr lang="et">
                <a:solidFill>
                  <a:schemeClr val="dk1"/>
                </a:solidFill>
              </a:rPr>
              <a:t> features (dataset_name, hyperparameters, series_description)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t">
                <a:solidFill>
                  <a:schemeClr val="dk1"/>
                </a:solidFill>
              </a:rPr>
              <a:t>Removing classes with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t">
                <a:solidFill>
                  <a:schemeClr val="dk1"/>
                </a:solidFill>
              </a:rPr>
              <a:t>less than 2 observations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t">
                <a:solidFill>
                  <a:schemeClr val="dk1"/>
                </a:solidFill>
              </a:rPr>
              <a:t>80/20% train and test split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6025" y="2512850"/>
            <a:ext cx="2060250" cy="22469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3549403" y="4483875"/>
            <a:ext cx="957900" cy="243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rgbClr val="6FA8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93509" y="606850"/>
            <a:ext cx="1518925" cy="415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t">
                <a:solidFill>
                  <a:srgbClr val="0B5394"/>
                </a:solidFill>
              </a:rPr>
              <a:t>Random baseline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t">
                <a:solidFill>
                  <a:schemeClr val="dk1"/>
                </a:solidFill>
              </a:rPr>
              <a:t>Random baseline </a:t>
            </a:r>
            <a:r>
              <a:rPr lang="et">
                <a:solidFill>
                  <a:schemeClr val="dk1"/>
                </a:solidFill>
              </a:rPr>
              <a:t>was created by computing how </a:t>
            </a:r>
            <a:r>
              <a:rPr b="1" lang="et">
                <a:solidFill>
                  <a:srgbClr val="0B5394"/>
                </a:solidFill>
              </a:rPr>
              <a:t>frequently</a:t>
            </a:r>
            <a:r>
              <a:rPr lang="et">
                <a:solidFill>
                  <a:schemeClr val="dk1"/>
                </a:solidFill>
              </a:rPr>
              <a:t> each </a:t>
            </a:r>
            <a:r>
              <a:rPr b="1" lang="et">
                <a:solidFill>
                  <a:srgbClr val="0B5394"/>
                </a:solidFill>
              </a:rPr>
              <a:t>class / algorithm</a:t>
            </a:r>
            <a:r>
              <a:rPr lang="et">
                <a:solidFill>
                  <a:schemeClr val="dk1"/>
                </a:solidFill>
              </a:rPr>
              <a:t> appeared in the training set and converted those frequencies into class </a:t>
            </a:r>
            <a:r>
              <a:rPr b="1" lang="et">
                <a:solidFill>
                  <a:srgbClr val="0B5394"/>
                </a:solidFill>
              </a:rPr>
              <a:t>probabilities</a:t>
            </a:r>
            <a:r>
              <a:rPr lang="et">
                <a:solidFill>
                  <a:schemeClr val="dk1"/>
                </a:solidFill>
              </a:rPr>
              <a:t>. Then those probabilities were used to randomly choose a class </a:t>
            </a:r>
            <a:r>
              <a:rPr b="1" lang="et">
                <a:solidFill>
                  <a:srgbClr val="0B5394"/>
                </a:solidFill>
              </a:rPr>
              <a:t>label</a:t>
            </a:r>
            <a:r>
              <a:rPr lang="et">
                <a:solidFill>
                  <a:schemeClr val="dk1"/>
                </a:solidFill>
              </a:rPr>
              <a:t> for each </a:t>
            </a:r>
            <a:r>
              <a:rPr b="1" lang="et">
                <a:solidFill>
                  <a:srgbClr val="0B5394"/>
                </a:solidFill>
              </a:rPr>
              <a:t>test</a:t>
            </a:r>
            <a:r>
              <a:rPr lang="et">
                <a:solidFill>
                  <a:schemeClr val="dk1"/>
                </a:solidFill>
              </a:rPr>
              <a:t> example, so more common classes were sampled more often.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t">
                <a:solidFill>
                  <a:schemeClr val="dk1"/>
                </a:solidFill>
              </a:rPr>
              <a:t>Random baseline accuracy:</a:t>
            </a:r>
            <a:r>
              <a:rPr lang="et">
                <a:solidFill>
                  <a:schemeClr val="dk1"/>
                </a:solidFill>
              </a:rPr>
              <a:t> 0.278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t">
                <a:solidFill>
                  <a:schemeClr val="dk1"/>
                </a:solidFill>
              </a:rPr>
              <a:t>Random baseline F1 score:</a:t>
            </a:r>
            <a:r>
              <a:rPr lang="et">
                <a:solidFill>
                  <a:schemeClr val="dk1"/>
                </a:solidFill>
              </a:rPr>
              <a:t> 0.181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6825" y="2740575"/>
            <a:ext cx="3129250" cy="156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66348" y="445023"/>
            <a:ext cx="819725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t"/>
              <a:t>Random Forest meta-model for classification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t">
                <a:solidFill>
                  <a:schemeClr val="dk1"/>
                </a:solidFill>
              </a:rPr>
              <a:t>Pre-processing steps for the model:</a:t>
            </a: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t">
                <a:solidFill>
                  <a:schemeClr val="dk1"/>
                </a:solidFill>
              </a:rPr>
              <a:t>impute missing values with median for numeric features</a:t>
            </a: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t">
                <a:solidFill>
                  <a:schemeClr val="dk1"/>
                </a:solidFill>
              </a:rPr>
              <a:t>impute missing values </a:t>
            </a:r>
            <a:r>
              <a:rPr lang="et">
                <a:solidFill>
                  <a:schemeClr val="dk1"/>
                </a:solidFill>
              </a:rPr>
              <a:t>with</a:t>
            </a:r>
            <a:r>
              <a:rPr lang="et">
                <a:solidFill>
                  <a:schemeClr val="dk1"/>
                </a:solidFill>
              </a:rPr>
              <a:t> “Unknown” category for categorical features</a:t>
            </a:r>
            <a:endParaRPr>
              <a:solidFill>
                <a:schemeClr val="dk1"/>
              </a:solidFill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t">
                <a:solidFill>
                  <a:schemeClr val="dk1"/>
                </a:solidFill>
              </a:rPr>
              <a:t>apply one-hot-encoding for categorical features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t">
                <a:solidFill>
                  <a:schemeClr val="dk1"/>
                </a:solidFill>
              </a:rPr>
              <a:t>Train Random Forest classifier with balanced class weights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t">
                <a:solidFill>
                  <a:schemeClr val="dk1"/>
                </a:solidFill>
              </a:rPr>
              <a:t>RandomForest accuracy: </a:t>
            </a:r>
            <a:r>
              <a:rPr lang="et">
                <a:solidFill>
                  <a:schemeClr val="dk1"/>
                </a:solidFill>
              </a:rPr>
              <a:t>0.679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t">
                <a:solidFill>
                  <a:schemeClr val="dk1"/>
                </a:solidFill>
              </a:rPr>
              <a:t>RandomForest F1 score: </a:t>
            </a:r>
            <a:r>
              <a:rPr lang="et">
                <a:solidFill>
                  <a:schemeClr val="dk1"/>
                </a:solidFill>
              </a:rPr>
              <a:t>0.412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t">
                <a:solidFill>
                  <a:schemeClr val="dk1"/>
                </a:solidFill>
              </a:rPr>
              <a:t>Random baseline accuracy: </a:t>
            </a:r>
            <a:r>
              <a:rPr lang="et">
                <a:solidFill>
                  <a:schemeClr val="dk1"/>
                </a:solidFill>
              </a:rPr>
              <a:t>0.278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t">
                <a:solidFill>
                  <a:schemeClr val="dk1"/>
                </a:solidFill>
              </a:rPr>
              <a:t>Random baseline F1 score: </a:t>
            </a:r>
            <a:r>
              <a:rPr lang="et">
                <a:solidFill>
                  <a:schemeClr val="dk1"/>
                </a:solidFill>
              </a:rPr>
              <a:t>0.181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8525" y="2866225"/>
            <a:ext cx="3439150" cy="209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t"/>
              <a:t>Classification report for </a:t>
            </a:r>
            <a:r>
              <a:rPr b="1" lang="et">
                <a:solidFill>
                  <a:srgbClr val="0B5394"/>
                </a:solidFill>
              </a:rPr>
              <a:t>R</a:t>
            </a:r>
            <a:r>
              <a:rPr b="1" lang="et">
                <a:solidFill>
                  <a:srgbClr val="0B5394"/>
                </a:solidFill>
              </a:rPr>
              <a:t>andom Forest</a:t>
            </a:r>
            <a:endParaRPr b="1">
              <a:solidFill>
                <a:srgbClr val="0B5394"/>
              </a:solidFill>
            </a:endParaRPr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100" y="1232050"/>
            <a:ext cx="8079142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4042" y="0"/>
            <a:ext cx="577590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169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t"/>
              <a:t>Feature importance</a:t>
            </a:r>
            <a:endParaRPr/>
          </a:p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875" y="742200"/>
            <a:ext cx="8869732" cy="440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t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